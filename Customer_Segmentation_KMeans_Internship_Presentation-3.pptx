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822960"/>
            <a:ext cx="1828800" cy="1828800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011680"/>
            <a:ext cx="1417320" cy="1417320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2743200"/>
            <a:ext cx="1051560" cy="1051560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749039"/>
            <a:ext cx="914400" cy="914400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69494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EEB142"/>
                </a:solidFill>
                <a:latin typeface="Aptos"/>
              </a:defRPr>
            </a:pPr>
            <a:r>
              <a:t>INTERNSHIP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713232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CUSTOMER SEGMENTATION</a:t>
            </a:r>
            <a:br/>
            <a:r>
              <a:t>USING K-MEANS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64922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D2E1F2"/>
                </a:solidFill>
                <a:latin typeface="Aptos"/>
              </a:defRPr>
            </a:pPr>
            <a:r>
              <a:t>Python • Data Analytics •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640080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Internship Organization: Astonish</a:t>
            </a:r>
            <a:br/>
            <a:r>
              <a:t>Role: Python Developer Intern | Duration: One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6400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0">
                <a:solidFill>
                  <a:srgbClr val="BECDDC"/>
                </a:solidFill>
                <a:latin typeface="Aptos"/>
              </a:defRPr>
            </a:pPr>
            <a:r>
              <a:t>Project based on the submitted REVIEW.pdf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A practical introduction to customer analytics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Customer segmentation divides a customer base into groups with similar characteristics.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8716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7744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This project uses K-Means, an unsupervised machine-learning algorithm.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4472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3756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Customers are grouped using annual income and spending score.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0740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9768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 synthetic dataset of 200 customer profiles is used for the demonstration.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36752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525780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output supports targeted marketing, customer retention, and resource planning.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Why customer segmentation is needed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Businesses may struggle to identify high-value, price-sensitive, or selective customers.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8716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7744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Marketing campaigns without segmentation can waste time and resources.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4472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3756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Customer records may contain patterns that are difficult to identify manually.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0740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9768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project applies clustering to reveal groups with similar income and spending behaviour.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36752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525780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resulting segments can guide more informed business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Learning goals and project outcomes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Understand data analytics, machine learning, and customer segmentation.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3271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2174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Generate and explore a synthetic dataset of customer profiles.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1272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0175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Prepare and scale the selected features before clustering.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273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8176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Use the Elbow Method to select the number of clusters.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274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6177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Visualize and interpret the customer groups in 2D and 3D.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5275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54178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Demonstrate how a new customer can be assigned to a cluster.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INTERNSHIP &amp; COMPANY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Internship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429000" cy="18288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18488"/>
            <a:ext cx="30998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11680"/>
            <a:ext cx="3099816" cy="1261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Astonish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18488"/>
            <a:ext cx="30998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099816" cy="1261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Python Developer Intern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08760"/>
            <a:ext cx="3429000" cy="18288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618488"/>
            <a:ext cx="30998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011680"/>
            <a:ext cx="3099816" cy="1261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One month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9044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794760"/>
            <a:ext cx="10168128" cy="67360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internship provided practical exposure to Python programming and problem-solving.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0552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495800"/>
            <a:ext cx="10168128" cy="67360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project connected programming, data handling, visualization, and machine learning.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30656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5196840"/>
            <a:ext cx="10168128" cy="67360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report lists software development, data processing, analytics, and visualization as relevant domains.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Libraries used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27048"/>
            <a:ext cx="291693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2916936" cy="103327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Main programming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527048"/>
            <a:ext cx="291693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920240"/>
            <a:ext cx="2916936" cy="103327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Numerical calculations and synthetic data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24612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27048"/>
            <a:ext cx="291693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20240"/>
            <a:ext cx="2916936" cy="103327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Tabular data handling and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74720"/>
            <a:ext cx="3246120" cy="16002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84448"/>
            <a:ext cx="291693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977639"/>
            <a:ext cx="2916936" cy="103327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Graphs and 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74720"/>
            <a:ext cx="3246120" cy="16002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584448"/>
            <a:ext cx="291693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Seaborn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977639"/>
            <a:ext cx="2916936" cy="103327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Statistical visualizations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474720"/>
            <a:ext cx="3246120" cy="16002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584448"/>
            <a:ext cx="291693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3977639"/>
            <a:ext cx="2916936" cy="103327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Feature scaling and K-Means clustering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Synthetic dataset used for analysis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dataset contains 200 artificially generated customer records.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3271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2174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Customer ID uniquely identifies each record.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1272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0175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Age records the customer’s age in years.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273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8176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Annual Income is represented in thousands of dollars (k$).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274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6177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Spending Score ranges from 1 to 100 and represents relative spending behaviour.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5275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5417820"/>
            <a:ext cx="10442448" cy="7726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Synthetic data makes the demonstration reproducible and easier to interpret.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FEATURE SELECTION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Preparing data for clustering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63040"/>
            <a:ext cx="4892040" cy="18288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572768"/>
            <a:ext cx="4562855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Selected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1965960"/>
            <a:ext cx="4562855" cy="1261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Annual Income</a:t>
            </a:r>
            <a:br/>
            <a:r>
              <a:t>Spending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4892040" cy="18288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562855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65960"/>
            <a:ext cx="4562855" cy="1261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StandardScaler standardizes the selected numerical features.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044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794760"/>
            <a:ext cx="10442448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project focuses on income and spending score for the main clustering task.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902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480560"/>
            <a:ext cx="10442448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Scaling helps prevent a feature’s numerical range from dominating distance calculations.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2760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5166360"/>
            <a:ext cx="10442448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Exploratory data analysis uses histograms and scatter plots to inspect distributions and relationships.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Understanding the dataset before modelling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117271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Histograms are used to inspect age, annual income, and spending-score distributions.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2719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617470"/>
            <a:ext cx="10442448" cy="117271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 scatter plot compares annual income with spending score before clustering.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9273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817620"/>
            <a:ext cx="10442448" cy="117271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Visualization helps reveal the spread and relationships in the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12749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017770"/>
            <a:ext cx="10442448" cy="117271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These exploratory steps support feature selection and interpretation of later clusters.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7373680" y="2599615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2495" y="2374686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62453" y="2413585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70052" y="2068080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5505" y="2215811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23350" y="2485113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22526" y="2241026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83123" y="2543304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28938" y="2116867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14135" y="2898943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5298" y="2704909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65874" y="2122228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9726" y="2514575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80618" y="2774057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87994" y="2976356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19106" y="2046907"/>
            <a:ext cx="82296" cy="82296"/>
          </a:xfrm>
          <a:prstGeom prst="ellipse">
            <a:avLst/>
          </a:prstGeom>
          <a:solidFill>
            <a:srgbClr val="2C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43632" y="3681518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42689" y="3858490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79646" y="3368689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57884" y="3559001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83569" y="3536432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676" y="3463156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9143" y="3375143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26519" y="3660560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7577" y="3548469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324" y="3628933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00742" y="2701522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887614" y="3597291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24374" y="3724655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28473" y="3181165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95054" y="3312696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72556" y="3323431"/>
            <a:ext cx="82296" cy="82296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46269" y="4666705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51832" y="4541541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22878" y="4470338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42701" y="4362740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72378" y="4777269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25484" y="4430824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56499" y="4663384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14601" y="4529786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87629" y="4624058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93717" y="4354915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263753" y="4637325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797278" y="4951988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296832" y="4691575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92478" y="4322979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490873" y="4689588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499672" y="4545580"/>
            <a:ext cx="82296" cy="82296"/>
          </a:xfrm>
          <a:prstGeom prst="ellipse">
            <a:avLst/>
          </a:prstGeom>
          <a:solidFill>
            <a:srgbClr val="EE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1417320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Conceptual income vs. spending pattern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29400" y="5623560"/>
            <a:ext cx="45720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0">
                <a:solidFill>
                  <a:srgbClr val="697687"/>
                </a:solidFill>
                <a:latin typeface="Aptos"/>
              </a:defRPr>
            </a:pPr>
            <a:r>
              <a:t>Illustrative only — not the original plot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WHAT IS CLUSTERING?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Unsupervised learning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Clustering groups data points according to similarity.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8716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7744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It does not require predefined class labels.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4472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3756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K-Means represents each group using a centre called a centroid.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0740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9768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Each point is assigned to the nearest centroid using a distance measure.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36752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525780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algorithm updates centroids and assignments until the solution converges.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K-MEANS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Main steps in the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237744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16824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1. Choose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1682496" cy="1810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Set the desired number of clusters.</a:t>
            </a:r>
          </a:p>
        </p:txBody>
      </p:sp>
      <p:sp>
        <p:nvSpPr>
          <p:cNvPr id="8" name="Chevron 7"/>
          <p:cNvSpPr/>
          <p:nvPr/>
        </p:nvSpPr>
        <p:spPr>
          <a:xfrm>
            <a:off x="2761488" y="2697480"/>
            <a:ext cx="256032" cy="384048"/>
          </a:xfrm>
          <a:prstGeom prst="chevron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828800"/>
            <a:ext cx="2011680" cy="237744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1938528"/>
            <a:ext cx="16824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2. Initialize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331720"/>
            <a:ext cx="1682496" cy="1810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Place K starting centroids.</a:t>
            </a:r>
          </a:p>
        </p:txBody>
      </p:sp>
      <p:sp>
        <p:nvSpPr>
          <p:cNvPr id="12" name="Chevron 11"/>
          <p:cNvSpPr/>
          <p:nvPr/>
        </p:nvSpPr>
        <p:spPr>
          <a:xfrm>
            <a:off x="5047488" y="2697480"/>
            <a:ext cx="256032" cy="384048"/>
          </a:xfrm>
          <a:prstGeom prst="chevron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1828800"/>
            <a:ext cx="2011680" cy="237744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1938528"/>
            <a:ext cx="16824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3. 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331720"/>
            <a:ext cx="1682496" cy="1810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Allocate each point to its nearest centroid.</a:t>
            </a:r>
          </a:p>
        </p:txBody>
      </p:sp>
      <p:sp>
        <p:nvSpPr>
          <p:cNvPr id="16" name="Chevron 15"/>
          <p:cNvSpPr/>
          <p:nvPr/>
        </p:nvSpPr>
        <p:spPr>
          <a:xfrm>
            <a:off x="7333488" y="2697480"/>
            <a:ext cx="256032" cy="384048"/>
          </a:xfrm>
          <a:prstGeom prst="chevron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1828800"/>
            <a:ext cx="2011680" cy="237744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1938528"/>
            <a:ext cx="16824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4.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2331720"/>
            <a:ext cx="1682496" cy="1810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Recalculate each centroid from its assigned points.</a:t>
            </a:r>
          </a:p>
        </p:txBody>
      </p:sp>
      <p:sp>
        <p:nvSpPr>
          <p:cNvPr id="20" name="Chevron 19"/>
          <p:cNvSpPr/>
          <p:nvPr/>
        </p:nvSpPr>
        <p:spPr>
          <a:xfrm>
            <a:off x="9619488" y="2697480"/>
            <a:ext cx="256032" cy="384048"/>
          </a:xfrm>
          <a:prstGeom prst="chevron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1828800"/>
            <a:ext cx="2011680" cy="237744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1938528"/>
            <a:ext cx="16824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5. Repeat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2331720"/>
            <a:ext cx="1682496" cy="18105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Continue assignment and update until convergence.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100584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800" b="0">
                <a:solidFill>
                  <a:srgbClr val="2A3441"/>
                </a:solidFill>
                <a:latin typeface="Aptos"/>
              </a:defRPr>
            </a:pPr>
            <a:r>
              <a:t>Goal: minimize the Within-Cluster Sum of Squares (WCSS).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ELBOW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Choosing the number of clusters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417320"/>
            <a:ext cx="4956048" cy="10698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Elbow Method calculates WCSS for different values of K.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2432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514600"/>
            <a:ext cx="4956048" cy="10698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WCSS measures how tightly data points fit within their assigned clusters.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611880"/>
            <a:ext cx="4956048" cy="10698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WCSS curve is examined for a bend or “elbow” point.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709159"/>
            <a:ext cx="4956048" cy="10698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report identifies K = 3 as the selected number of clusters.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92240" y="5029200"/>
            <a:ext cx="4389119" cy="0"/>
          </a:xfrm>
          <a:prstGeom prst="line">
            <a:avLst/>
          </a:prstGeom>
          <a:ln w="19050">
            <a:solidFill>
              <a:srgbClr val="2A3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1828800"/>
            <a:ext cx="0" cy="3200400"/>
          </a:xfrm>
          <a:prstGeom prst="line">
            <a:avLst/>
          </a:prstGeom>
          <a:ln w="19050">
            <a:solidFill>
              <a:srgbClr val="2A3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720840" y="3749039"/>
            <a:ext cx="502919" cy="1005841"/>
          </a:xfrm>
          <a:prstGeom prst="line">
            <a:avLst/>
          </a:prstGeom>
          <a:ln w="31750"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223759" y="3200400"/>
            <a:ext cx="548641" cy="548639"/>
          </a:xfrm>
          <a:prstGeom prst="line">
            <a:avLst/>
          </a:prstGeom>
          <a:ln w="31750"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72400" y="2880360"/>
            <a:ext cx="548640" cy="320040"/>
          </a:xfrm>
          <a:prstGeom prst="line">
            <a:avLst/>
          </a:prstGeom>
          <a:ln w="31750"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21040" y="2697480"/>
            <a:ext cx="640080" cy="182880"/>
          </a:xfrm>
          <a:prstGeom prst="line">
            <a:avLst/>
          </a:prstGeom>
          <a:ln w="31750"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961120" y="2578608"/>
            <a:ext cx="731520" cy="118872"/>
          </a:xfrm>
          <a:prstGeom prst="line">
            <a:avLst/>
          </a:prstGeom>
          <a:ln w="31750"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92640" y="2505456"/>
            <a:ext cx="640080" cy="73152"/>
          </a:xfrm>
          <a:prstGeom prst="line">
            <a:avLst/>
          </a:prstGeom>
          <a:ln w="31750"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665976" y="4700016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68896" y="3694176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17536" y="3145536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66175" y="2825496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06256" y="2642616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37776" y="2523744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7856" y="2450592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257800"/>
            <a:ext cx="42976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0">
                <a:solidFill>
                  <a:srgbClr val="697687"/>
                </a:solidFill>
                <a:latin typeface="Aptos"/>
              </a:defRPr>
            </a:pPr>
            <a:r>
              <a:t>Illustrative elbow curve (K = 3 selected)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PROPOSED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From raw data to customer segments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32004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664207"/>
            <a:ext cx="28712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057400"/>
            <a:ext cx="2871216" cy="9418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Create 200 customer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54480"/>
            <a:ext cx="32004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1664207"/>
            <a:ext cx="28712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057400"/>
            <a:ext cx="2871216" cy="9418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Inspect distributions and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59" y="1554480"/>
            <a:ext cx="32004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1" y="1664207"/>
            <a:ext cx="28712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1" y="2057400"/>
            <a:ext cx="2871216" cy="9418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Standardize income and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94760"/>
            <a:ext cx="3200400" cy="15087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904488"/>
            <a:ext cx="28712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Select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4297680"/>
            <a:ext cx="2871216" cy="9418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Use the Elbow Method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794760"/>
            <a:ext cx="3200400" cy="15087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904488"/>
            <a:ext cx="28712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4297680"/>
            <a:ext cx="2871216" cy="9418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Run K-Means with K =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59" y="3794760"/>
            <a:ext cx="3200400" cy="15087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1" y="3904488"/>
            <a:ext cx="28712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1" y="4297680"/>
            <a:ext cx="2871216" cy="9418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Visualize groups and business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PYTHON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Core implementation logic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7269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1. Import NumPy, Pandas, Matplotlib, Seaborn and Scikit-learn.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28142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171700"/>
            <a:ext cx="10442448" cy="7269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2. Generate customer age, income and spending-score values.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3580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926080"/>
            <a:ext cx="10442448" cy="7269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3. Select Annual Income and Spending Score as model features.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901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680460"/>
            <a:ext cx="10442448" cy="7269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4. Apply StandardScaler to the selected features.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4456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434840"/>
            <a:ext cx="10442448" cy="7269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5. Fit K-Means with three clusters and obtain cluster assignments.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2989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5189220"/>
            <a:ext cx="10442448" cy="7269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6. Plot the clusters and centroids for interpretation.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0">
                <a:solidFill>
                  <a:srgbClr val="2C66B0"/>
                </a:solidFill>
                <a:latin typeface="Aptos"/>
              </a:defRPr>
            </a:pPr>
            <a:r>
              <a:t>The report includes Python code and visual outputs for the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RESULTS: THREE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Interpretation described in the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520440" cy="342900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18488"/>
            <a:ext cx="319125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Cluster 1 — Impulsive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191256" cy="2862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Low income</a:t>
            </a:r>
            <a:br/>
            <a:r>
              <a:t>High spending score</a:t>
            </a:r>
            <a:br/>
            <a:r>
              <a:t>Described as young and potentially brand-oriented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34290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18488"/>
            <a:ext cx="319125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Cluster 2 —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11680"/>
            <a:ext cx="3191256" cy="2862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Medium income</a:t>
            </a:r>
            <a:br/>
            <a:r>
              <a:t>Moderate spending score</a:t>
            </a:r>
            <a:br/>
            <a:r>
              <a:t>Represents the average buyer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08760"/>
            <a:ext cx="3520440" cy="3429000"/>
          </a:xfrm>
          <a:prstGeom prst="roundRect">
            <a:avLst/>
          </a:prstGeom>
          <a:solidFill>
            <a:srgbClr val="FAF2DE"/>
          </a:solidFill>
          <a:ln>
            <a:solidFill>
              <a:srgbClr val="FAF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618488"/>
            <a:ext cx="319125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Cluster 3 — Conservative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011680"/>
            <a:ext cx="3191256" cy="2862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High income</a:t>
            </a:r>
            <a:br/>
            <a:r>
              <a:t>Low spending score</a:t>
            </a:r>
            <a:br/>
            <a:r>
              <a:t>Described as selective or value-driven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42416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Cluster names summarize the patterns reported for this synthetic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VISUALIZATION &amp; MODEL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How the output is examined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 2D scatter plot shows income against spending score and colours points by cluster.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8716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7744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Centroids indicate the typical position of each customer group.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4472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3756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 3D plot adds age to the visual analysis.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0740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9768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 bar chart compares average income and spending metrics across clusters.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36752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525780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report describes clear visual separation with minimal overlap; no numeric evaluation score is provided.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Applying the model to a new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3154680" cy="19659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618488"/>
            <a:ext cx="28254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011680"/>
            <a:ext cx="2825496" cy="13990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Age</a:t>
            </a:r>
            <a:br/>
            <a:r>
              <a:t>Annual income</a:t>
            </a:r>
            <a:br/>
            <a:r>
              <a:t>Spending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154680" cy="19659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618488"/>
            <a:ext cx="28254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011680"/>
            <a:ext cx="2825496" cy="13990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Scale income and spending score</a:t>
            </a:r>
            <a:br/>
            <a:r>
              <a:t>Predict the nearest cluster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08760"/>
            <a:ext cx="3154680" cy="19659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618488"/>
            <a:ext cx="28254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011680"/>
            <a:ext cx="2825496" cy="13990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Predicted cluster</a:t>
            </a:r>
            <a:br/>
            <a:r>
              <a:t>Cluster profile</a:t>
            </a:r>
            <a:br/>
            <a:r>
              <a:t>Suggested marketing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Example in the report: Age 28, annual income $45,000, spending score 82 → Cluster 1 (young, low-income, high-spending).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A Flask webpage is described as a prototype interface for collecting inputs and displaying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BUSINESS INSIGHTS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Potential uses of customer segments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2704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41732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Impulsive / high-spending group: promotional offers and loyalty programmes.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8716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37744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Balanced group: maintain satisfaction and encourage repeat purchases.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44728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3756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Conservative / selective group: premium products and personalized services where appropriate.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0740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9768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Retail can use segments for promotions; e-commerce for recommendations; banking for customer profiling; hospitality for tailored offers.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367528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5257800"/>
            <a:ext cx="10442448" cy="9326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Segmentation can help personalize marketing and support resource optimization.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What could be improved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29200" cy="4389120"/>
          </a:xfrm>
          <a:prstGeom prst="roundRect">
            <a:avLst/>
          </a:prstGeom>
          <a:solidFill>
            <a:srgbClr val="EFF5FA"/>
          </a:solidFill>
          <a:ln>
            <a:solidFill>
              <a:srgbClr val="EF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27048"/>
            <a:ext cx="4700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4700016" cy="38221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Synthetic rather than real customer data</a:t>
            </a:r>
            <a:br/>
            <a:r>
              <a:t>Limited feature set</a:t>
            </a:r>
            <a:br/>
            <a:r>
              <a:t>K-Means sensitivity to outliers</a:t>
            </a:r>
            <a:br/>
            <a:r>
              <a:t>K must be selected in advance</a:t>
            </a:r>
            <a:br/>
            <a:r>
              <a:t>Limited validation against real business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029200" cy="438912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27048"/>
            <a:ext cx="470001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42440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20240"/>
            <a:ext cx="4700016" cy="38221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Collect real transaction/customer data</a:t>
            </a:r>
            <a:br/>
            <a:r>
              <a:t>Add region, preferences and purchase frequency</a:t>
            </a:r>
            <a:br/>
            <a:r>
              <a:t>Compare DBSCAN and hierarchical clustering</a:t>
            </a:r>
            <a:br/>
            <a:r>
              <a:t>Evaluate using Silhouette Score and Davies–Bouldin Index</a:t>
            </a:r>
            <a:br/>
            <a:r>
              <a:t>Build a cloud dashboard or CRM/API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C66B0"/>
                </a:solidFill>
                <a:latin typeface="Aptos"/>
              </a:defRPr>
            </a:pPr>
            <a:r>
              <a:t>Summary of learning and 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435607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1325880"/>
            <a:ext cx="10442448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project demonstrates customer segmentation using K-Means and a synthetic dataset of 200 records.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331720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221992"/>
            <a:ext cx="10442448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Preprocessing, feature scaling, the Elbow Method, and visualizations form the main workflow.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27832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118104"/>
            <a:ext cx="10442448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Three segments are interpreted as impulsive, balanced, and conservative customers.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123944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014216"/>
            <a:ext cx="10442448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The project connects Python programming and machine learning with practical business analysis.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020056"/>
            <a:ext cx="109728" cy="109728"/>
          </a:xfrm>
          <a:prstGeom prst="ellipse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910328"/>
            <a:ext cx="10442448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0">
                <a:solidFill>
                  <a:srgbClr val="2A3441"/>
                </a:solidFill>
                <a:latin typeface="Aptos"/>
              </a:defRPr>
            </a:pPr>
            <a:r>
              <a:t>References listed in the report include Scikit-learn, NumPy, Pandas, Matplotlib/Seaborn documentation, and data-mining textbooks.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800" b="1">
                <a:solidFill>
                  <a:srgbClr val="1C918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697687"/>
                </a:solidFill>
                <a:latin typeface="Aptos"/>
              </a:defRPr>
            </a:pPr>
            <a:r>
              <a:t>CUSTOMER SEGMENTATION USING K-MEANS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0">
                <a:solidFill>
                  <a:srgbClr val="697687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